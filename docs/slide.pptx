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NO_LOCK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5.28</c:v>
                </c:pt>
                <c:pt idx="1">
                  <c:v>11.46</c:v>
                </c:pt>
                <c:pt idx="2">
                  <c:v>1.33</c:v>
                </c:pt>
                <c:pt idx="3">
                  <c:v>0.68</c:v>
                </c:pt>
                <c:pt idx="4">
                  <c:v>0.28</c:v>
                </c:pt>
                <c:pt idx="5">
                  <c:v>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F0-ED4C-AD15-C26CA2AE99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FILE_LOCK</c:v>
                </c:pt>
              </c:strCache>
            </c:strRef>
          </c:tx>
          <c:spPr>
            <a:ln w="31750" cap="flat">
              <a:solidFill>
                <a:srgbClr val="E08E0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08E0B"/>
              </a:solidFill>
              <a:ln w="9525" cap="flat">
                <a:solidFill>
                  <a:srgbClr val="E08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2.95</c:v>
                </c:pt>
                <c:pt idx="1">
                  <c:v>3.85</c:v>
                </c:pt>
                <c:pt idx="2">
                  <c:v>3.34</c:v>
                </c:pt>
                <c:pt idx="3">
                  <c:v>3.92</c:v>
                </c:pt>
                <c:pt idx="4">
                  <c:v>4.15</c:v>
                </c:pt>
                <c:pt idx="5">
                  <c:v>3.07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F0-ED4C-AD15-C26CA2AE99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SYNCHRONIZED</c:v>
                </c:pt>
              </c:strCache>
            </c:strRef>
          </c:tx>
          <c:spPr>
            <a:ln w="31750" cap="flat">
              <a:solidFill>
                <a:srgbClr val="2E6DA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1.74</c:v>
                </c:pt>
                <c:pt idx="1">
                  <c:v>0.62</c:v>
                </c:pt>
                <c:pt idx="2">
                  <c:v>0.32</c:v>
                </c:pt>
                <c:pt idx="3">
                  <c:v>0.17</c:v>
                </c:pt>
                <c:pt idx="4">
                  <c:v>0.06</c:v>
                </c:pt>
                <c:pt idx="5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8F0-ED4C-AD15-C26CA2AE99A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OPTIMISTIC</c:v>
                </c:pt>
              </c:strCache>
            </c:strRef>
          </c:tx>
          <c:spPr>
            <a:ln w="3175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1.56</c:v>
                </c:pt>
                <c:pt idx="1">
                  <c:v>0.55</c:v>
                </c:pt>
                <c:pt idx="2">
                  <c:v>0.30</c:v>
                </c:pt>
                <c:pt idx="3">
                  <c:v>0.16</c:v>
                </c:pt>
                <c:pt idx="4">
                  <c:v>0.07</c:v>
                </c:pt>
                <c:pt idx="5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8F0-ED4C-AD15-C26CA2AE99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vi-VN" b="0" i="0" u="none" strike="noStrike">
                    <a:solidFill>
                      <a:srgbClr val="000000"/>
                    </a:solidFill>
                    <a:latin typeface="Arial"/>
                  </a:rPr>
                  <a:t>Số lượng Thread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0"/>
                </a:solidFill>
                <a:latin typeface="Arial"/>
              </a:defRPr>
            </a:pPr>
            <a:endParaRPr lang="en-V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TPS (transactions/giây)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0"/>
                </a:solidFill>
                <a:latin typeface="Arial"/>
              </a:defRPr>
            </a:pPr>
            <a:endParaRPr lang="en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833"/>
              </a:solidFill>
            </a:defRPr>
          </a:pPr>
          <a:endParaRPr lang="en-V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NO_LOCK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6</c:v>
                </c:pt>
                <c:pt idx="2">
                  <c:v>3</c:v>
                </c:pt>
                <c:pt idx="3">
                  <c:v>1.5</c:v>
                </c:pt>
                <c:pt idx="4">
                  <c:v>0.6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BA-A64D-B023-06005662EC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FILE_LOCK</c:v>
                </c:pt>
              </c:strCache>
            </c:strRef>
          </c:tx>
          <c:spPr>
            <a:solidFill>
              <a:srgbClr val="E08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BA-A64D-B023-06005662EC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SYNCHRONIZED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BA-A64D-B023-06005662ECD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500</c:v>
                </c:pt>
                <c:pt idx="5">
                  <c:v>1000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BA-A64D-B023-06005662E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vi-VN" b="0" i="0" u="none" strike="noStrike">
                    <a:solidFill>
                      <a:srgbClr val="000000"/>
                    </a:solidFill>
                    <a:latin typeface="Arial"/>
                  </a:rPr>
                  <a:t>Số lượng Thread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0"/>
                </a:solidFill>
                <a:latin typeface="Arial"/>
              </a:defRPr>
            </a:pPr>
            <a:endParaRPr lang="en-V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Double Booking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0"/>
                </a:solidFill>
                <a:latin typeface="Arial"/>
              </a:defRPr>
            </a:pPr>
            <a:endParaRPr lang="en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833"/>
              </a:solidFill>
            </a:defRPr>
          </a:pPr>
          <a:endParaRPr lang="en-V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55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UNIVERSITY  ·  LAB211  ·  OOP with Java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TICKET BOOKING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Nghiên cứu &amp; Thực nghiệm Đồng bộ hoá — Nhóm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19050">
            <a:solidFill>
              <a:srgbClr val="3E5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“Cơ chế đồng bộ hoá nào đảm bảo không xảy ra Double Booking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hàng nghìn Fan Threads cùng đặt vé cùng một lúc?”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Minh Hải Đăng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37560" y="5989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Xuân Thiện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5989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Đinh Vũ Phương Khánh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49640" y="5989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 Đình Văn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nghiên cứu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“Trong kịch bản hàng nghìn Fan Threads cùng lúc đặt mua vé cho cùng một khu vực khán đài trên file CSV — cơ chế đồng bộ hoá nào đảm bảo không xảy ra Double Booking và tối ưu hoá tốc độ giao dịch để Fan không phải chờ đợi quá lâu?”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ghế bán cho 2 Fan cùng lúc — cả hai đều có vé hợp lệ nhưng chỉ 1 người vào sân được.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3794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đọc trạng thái → kiểm tra → ghi vé không atomic trên file CSV khi nhiều thread cùng truy cập.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794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quá chặt → throughput thấp, Fan chờ lâu. Khoá quá lỏng → double booking xảy ra.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nghiệp vụ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lưu hoàn toàn trong CSV — không dùng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sân vận động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khu vực: VIP · Standard · Standing · Economy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30,600 ghế — trạng thái AVAILABLE → LOCKED → BOOKED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trận đấu (4 trận/sân)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690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tài khoản Fan mẫu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0690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Transaction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ra khi Fan đặt vé thành công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nhóm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4460" y="2331720"/>
            <a:ext cx="914400" cy="9144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13944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Minh Hải Đăng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· Enum · BaseEntity · CsvRepository · DataGenerator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9100" y="2331720"/>
            <a:ext cx="914400" cy="9144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2291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Xuân Thiện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4160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BookingController · SimulatorController · Fix logic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3740" y="2331720"/>
            <a:ext cx="914400" cy="9144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Đinh Vũ Phương Khánh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FanController · View Layer · AppContext · MVC Wiring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5256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98380" y="2331720"/>
            <a:ext cx="914400" cy="9144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989838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3544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 Đình Văn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35440" y="4160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ReportController · Performance Analysis · Test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— MVC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(console) → Controller (điều phối) → Repository (duy nhất đọc/ghi CSV)</a:t>
            </a:r>
            <a:endParaRPr lang="en-US" sz="1400" dirty="0"/>
          </a:p>
        </p:txBody>
      </p:sp>
      <p:pic>
        <p:nvPicPr>
          <p:cNvPr id="4" name="Image 0" descr="/home/claude/build/classdiag/CLASS DIAGRAM_ FOOTBALL BOOKING 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508760"/>
            <a:ext cx="8686800" cy="4090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tổng quan</a:t>
            </a:r>
            <a:endParaRPr lang="en-US" sz="3000" dirty="0"/>
          </a:p>
        </p:txBody>
      </p:sp>
      <p:pic>
        <p:nvPicPr>
          <p:cNvPr id="3" name="Image 0" descr="/home/claude/project/Nhom_4_LAB211_TicketBooking/docs/usecase diagram/Use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26" y="1097280"/>
            <a:ext cx="7564374" cy="53672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dữ liệu CSV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30,600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Ghế (Seat)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43400" y="1737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34340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Trận đấu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1737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04672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4023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34340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Sân vận động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023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10,000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04672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tối thiểu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cơ chế đồng bộ hoá được so sánh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DF1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856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NO_LOCK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khoá — đọc/kiểm tra/ghi trực tiếp. Baseline chứng minh vấn đề Double Booking là có thật.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E08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856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FILE_LOCK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java.nio.channels.FileLock — khoá file ở tầng hệ điều hành trước khi đọc-ghi.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D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khoá synchronized trong Repository — khoá tầng ứng dụng (JVM), thread xếp hàng.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D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20624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trường version trước khi ghi (OCC) — không khoá trước, phát hiện &amp; retry khi conflict.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Đặt Vé (Booking Flow)</a:t>
            </a:r>
            <a:endParaRPr lang="en-US" sz="3000" dirty="0"/>
          </a:p>
        </p:txBody>
      </p:sp>
      <p:pic>
        <p:nvPicPr>
          <p:cNvPr id="3" name="Image 0" descr="/home/claude/project/Nhom_4_LAB211_TicketBooking/docs/Flowcharts/Booking 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71600"/>
            <a:ext cx="512064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Ngăn chặn Double Booking (Synchronization Flow)</a:t>
            </a:r>
            <a:endParaRPr lang="en-US" sz="3000" dirty="0"/>
          </a:p>
        </p:txBody>
      </p:sp>
      <p:pic>
        <p:nvPicPr>
          <p:cNvPr id="3" name="Image 0" descr="/home/claude/project/Nhom_4_LAB211_TicketBooking/docs/Flowcharts/Synchronization 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371600"/>
            <a:ext cx="466344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Tool — CountDownLatch</a:t>
            </a:r>
            <a:endParaRPr lang="en-US" sz="3000" dirty="0"/>
          </a:p>
        </p:txBody>
      </p:sp>
      <p:pic>
        <p:nvPicPr>
          <p:cNvPr id="3" name="Image 0" descr="/home/claude/project/Nhom_4_LAB211_TicketBooking/docs/Flowcharts/Simulator Tool 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206240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66360" y="160020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EDF1F5"/>
          </a:solidFill>
          <a:ln/>
        </p:spPr>
      </p:sp>
      <p:sp>
        <p:nvSpPr>
          <p:cNvPr id="5" name="Text 2"/>
          <p:cNvSpPr/>
          <p:nvPr/>
        </p:nvSpPr>
        <p:spPr>
          <a:xfrm>
            <a:off x="5440680" y="17647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startLatch (1)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40680" y="21671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N thread khởi động cùng thời điểm — mô phỏng tranh chấp thực.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66360" y="320040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EDF1F5"/>
          </a:solidFill>
          <a:ln/>
        </p:spPr>
      </p:sp>
      <p:sp>
        <p:nvSpPr>
          <p:cNvPr id="8" name="Text 5"/>
          <p:cNvSpPr/>
          <p:nvPr/>
        </p:nvSpPr>
        <p:spPr>
          <a:xfrm>
            <a:off x="5440680" y="33649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doneLatch (N)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40680" y="37673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đợi toàn bộ N thread hoàn tất trước khi tổng hợp kết quả.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66360" y="480060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EDF1F5"/>
          </a:solidFill>
          <a:ln/>
        </p:spPr>
      </p:sp>
      <p:sp>
        <p:nvSpPr>
          <p:cNvPr id="11" name="Text 8"/>
          <p:cNvSpPr/>
          <p:nvPr/>
        </p:nvSpPr>
        <p:spPr>
          <a:xfrm>
            <a:off x="5440680" y="49651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40680" y="53675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được giới hạn theo availableProcessors()×4 để tránh CPU thrashing.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thực nghiệm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Fan Thread cùng lúc tranh chấp đặt 1 ghế duy nhất — kịch bản tranh chấp gay gắt nhất (worst case).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3429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tải (threads)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10, 50, 100, 200, 500, 1000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chế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NO_LOCK · FILE_LOCK · SYNCHRONIZED · OPTIMISTIC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số lần chạy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× 4 = 24 lần chạy độc lập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giữa các lần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Ghế reset về AVAILABLE, version = 0 trước mỗi lần chạy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experiment.RunExperiment.java → xuất data/simulation_results.csv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Throughput (TPS) theo số Thread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08760"/>
          <a:ext cx="110642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Tỷ lệ Double Booking theo số Thread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08760"/>
          <a:ext cx="110642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tóm tắt — mức tải cao nhất (1000 threads)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3200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chế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Booked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08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FILE_LOCK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dữ liệu 24 dòng (6 mức thread × 4 cơ chế) nằm trong data/simulation_results.csv và Phụ lục báo cáo Word.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EC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1 — NO_LOCK không chỉ gây Double Booking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nhiều thread NO_LOCK cùng gọi thao tác ghi lại toàn bộ file seats.csv, các lần ghi chồng lấn ở tầng hệ điều hành gây torn write — dòng dữ liệu bị cắt/lẫn.
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thực tế: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hệ thống ghi nhận nhiều dòng “Skipping invalid line ... Seat CSV requires at least 7 columns” trong lúc chạy thực nghiệm NO_LOCK.
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không chỉ ghế đang tranh chấp mà cả các dòng khác trong file — mất dữ liệu diện rộng, nghiêm trọng hơn double booking đơn thuần.
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NO_LOCK không phù hợp cho hệ thống ghi dữ liệu dùng chung — ngay cả khi double-booking rate đo được trên 1 ghế cụ thể trông có vẻ thấp.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E08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2 — Hạn chế của FILE_LOCK trong 1 JVM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FILE_LOCK có TPS cao và thời gian chạy rất ngắn ở mọi mức tải — thoạt nhìn giống hiệu năng tốt, nhưng không phản ánh đúng bản chất.
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 kỹ thuật: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java.nio.channels.FileLock chỉ đảm bảo loại trừ lẫn nhau GIỮA CÁC TIẾN TRÌNH (process) khác nhau, KHÔNG đảm bảo loại trừ giữa các thread trong cùng 1 JVM.
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thread cùng JVM tranh chấp cùng 1 file → JVM ném OverlappingFileLockException NGAY LẬP TỨC thay vì cho thread chờ → phần lớn thread fail tức thời (không phải do tranh chấp thực).
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 </a:t>
            </a: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synchronized (chặn ở JVM) bên ngoài FileLock để mô phỏng đúng ngữ nghĩa “chờ, không throw ngay” khi nhiều thread cùng tiến trình tranh chấp.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&amp; OPTIMISTIC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chặn triệt để Double Booking ở mọi mức tải (0 double-booked / 24 lần chạy).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NO_LOCK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1089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để lọt xung đột, kèm rủi ro hỏng dữ liệu diện rộng ngoài dự kiến.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FILE_LOCK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 về lý thuyết, nhưng cần thiết kế lại để phản ánh đúng tranh chấp đa luồng trong 1 JVM.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Research Question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5778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có tiềm năng throughput cao hơn SYNCHRONIZED trong điều kiện ít tranh chấp — cần tách lock I/O khỏi lock version để chứng minh rõ bằng thực nghiệm.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DF1F5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56816"/>
            <a:ext cx="420624" cy="42062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synchronized khỏi updateStatusOptimistic() — triển khai retry loop không khoá để đo đúng bản chất OCC.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DF1F5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008376"/>
            <a:ext cx="420624" cy="42062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CsvRepository.saveAll() để ghi file an toàn khi có concurrent write (ghi file tạm rồi rename nguyên tử).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D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59936"/>
            <a:ext cx="420624" cy="42062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synchronized với FileLock để FILE_LOCK phản ánh đúng ngữ nghĩa chờ thay vì throw ngay.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D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111496"/>
            <a:ext cx="420624" cy="42062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892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thí nghiệm sang kịch bản nhiều ghế / nhiều Fan đồng thời để đo throughput hệ thống thực tế hơn.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Nhóm 4 · Stadium Ticket Booking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đã theo dõi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 — LAB211 · Stadium Ticket Booking Simulation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1516</Words>
  <Application>Microsoft Macintosh PowerPoint</Application>
  <PresentationFormat>Widescreen</PresentationFormat>
  <Paragraphs>226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2026-07-19T15:19:04Z</dcterms:created>
  <dcterms:modified xsi:type="dcterms:W3CDTF">2026-07-19T15:27:22Z</dcterms:modified>
</cp:coreProperties>
</file>